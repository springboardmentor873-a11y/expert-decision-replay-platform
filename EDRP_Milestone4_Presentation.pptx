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Expert Decision Replay Platform</a:t>
            </a:r>
          </a:p>
          <a:p>
            <a:pPr>
              <a:spcBef>
                <a:spcPts val="1400"/>
              </a:spcBef>
              <a:defRPr sz="1800">
                <a:solidFill>
                  <a:srgbClr val="8B5CF6"/>
                </a:solidFill>
              </a:defRPr>
            </a:pPr>
            <a:r>
              <a:t>Milestone 4 Technical Overview &amp; Docker System Mechanics</a:t>
            </a:r>
          </a:p>
          <a:p>
            <a:pPr>
              <a:spcBef>
                <a:spcPts val="2000"/>
              </a:spcBef>
              <a:defRPr sz="1300">
                <a:solidFill>
                  <a:srgbClr val="64748B"/>
                </a:solidFill>
              </a:defRPr>
            </a:pPr>
            <a:r>
              <a:t>Complete 10-Slide Deck with Visual Architecture Diagrams for Every Slide</a:t>
            </a:r>
          </a:p>
        </p:txBody>
      </p:sp>
      <p:pic>
        <p:nvPicPr>
          <p:cNvPr id="4" name="Picture 3" descr="fig1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 &amp; System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Centralized Knowledge Repository: </a:t>
            </a:r>
            <a:r>
              <a:rPr b="0">
                <a:solidFill>
                  <a:srgbClr val="1E293B"/>
                </a:solidFill>
              </a:rPr>
              <a:t>Eliminates tribal knowledge by recording structured Architectural Decision Records (ADRs).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Multi-Decision Timeline Replay: </a:t>
            </a:r>
            <a:r>
              <a:rPr b="0">
                <a:solidFill>
                  <a:srgbClr val="1E293B"/>
                </a:solidFill>
              </a:rPr>
              <a:t>Step back and forward through decision evolution history.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Team Governance &amp; Approval Workflows: </a:t>
            </a:r>
            <a:r>
              <a:rPr b="0">
                <a:solidFill>
                  <a:srgbClr val="1E293B"/>
                </a:solidFill>
              </a:rPr>
              <a:t>Multi-stage reviewer approvals, escalations, and manager join request controls.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Milestone 4 Deliverables: </a:t>
            </a:r>
            <a:r>
              <a:rPr b="0">
                <a:solidFill>
                  <a:srgbClr val="1E293B"/>
                </a:solidFill>
              </a:rPr>
              <a:t>Phases 1-5 complete: Search, PDF Exports, WebSockets, Dockerization, AI Insights &amp; Separate Team Knowledge Graphs.</a:t>
            </a:r>
          </a:p>
        </p:txBody>
      </p:sp>
      <p:pic>
        <p:nvPicPr>
          <p:cNvPr id="6" name="Picture 5" descr="fig2_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Technology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Frontend Application Tier: </a:t>
            </a:r>
            <a:r>
              <a:rPr b="0">
                <a:solidFill>
                  <a:srgbClr val="1E293B"/>
                </a:solidFill>
              </a:rPr>
              <a:t>React 18, Vite Build System, Vanilla CSS Token System, Custom SVG Knowledge Graph Canvas, Zoomable In-App Document Viewer.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Backend Service Tier: </a:t>
            </a:r>
            <a:r>
              <a:rPr b="0">
                <a:solidFill>
                  <a:srgbClr val="1E293B"/>
                </a:solidFill>
              </a:rPr>
              <a:t>FastAPI 0.115+, Python 3.12 Engine, SQLAlchemy 2.0 ORM, Pydantic v2 Schema Validation, ReportLab Binary PDF Generator.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Database &amp; Deployment Tier: </a:t>
            </a:r>
            <a:r>
              <a:rPr b="0">
                <a:solidFill>
                  <a:srgbClr val="1E293B"/>
                </a:solidFill>
              </a:rPr>
              <a:t>PostgreSQL 15 Relational Database, Docker Compose Orchestration, Nginx Alpine Reverse Proxy, 46 Automated Pytest Unit Tests.</a:t>
            </a:r>
          </a:p>
        </p:txBody>
      </p:sp>
      <p:pic>
        <p:nvPicPr>
          <p:cNvPr id="6" name="Picture 5" descr="fig3_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1: Multi-Criterion Search &amp; Filtering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REST API /decisions/search Endpoint: </a:t>
            </a:r>
            <a:r>
              <a:rPr b="0">
                <a:solidFill>
                  <a:srgbClr val="1E293B"/>
                </a:solidFill>
              </a:rPr>
              <a:t>Supports Category, Status, Date Range (from_date, to_date), and Keyword search parameters simultaneously.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Full-Text Deep Querying: </a:t>
            </a:r>
            <a:r>
              <a:rPr b="0">
                <a:solidFill>
                  <a:srgbClr val="1E293B"/>
                </a:solidFill>
              </a:rPr>
              <a:t>Searches decision titles, problem statements, rationale, and alternative option names/descriptions.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Global Header Component (Header.jsx): </a:t>
            </a:r>
            <a:r>
              <a:rPr b="0">
                <a:solidFill>
                  <a:srgbClr val="1E293B"/>
                </a:solidFill>
              </a:rPr>
              <a:t>Instant debounced drop-down search results available globally across all pages.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Dynamic Sorting Controls: </a:t>
            </a:r>
            <a:r>
              <a:rPr b="0">
                <a:solidFill>
                  <a:srgbClr val="1E293B"/>
                </a:solidFill>
              </a:rPr>
              <a:t>Sort by creation date (newest/oldest), title alphabetical, or status priority.</a:t>
            </a:r>
          </a:p>
        </p:txBody>
      </p:sp>
      <p:pic>
        <p:nvPicPr>
          <p:cNvPr id="6" name="Picture 5" descr="fig4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2: PDF Document Generation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Single Decision ADR PDF Export: </a:t>
            </a:r>
            <a:r>
              <a:rPr b="0">
                <a:solidFill>
                  <a:srgbClr val="1E293B"/>
                </a:solidFill>
              </a:rPr>
              <a:t>GET /reports/decisions/{id}/export/pdf — Renders decision metadata, author details, rationale, and alternatives evaluation matrix.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Executive Summary PDF Report: </a:t>
            </a:r>
            <a:r>
              <a:rPr b="0">
                <a:solidFill>
                  <a:srgbClr val="1E293B"/>
                </a:solidFill>
              </a:rPr>
              <a:t>GET /reports/decisions/export/pdf — Multi-page formatted executive report designed for leadership &amp; compliance auditing.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ReportLab Vector Engine: </a:t>
            </a:r>
            <a:r>
              <a:rPr b="0">
                <a:solidFill>
                  <a:srgbClr val="1E293B"/>
                </a:solidFill>
              </a:rPr>
              <a:t>Generates high-resolution binary vector PDFs with 1-click browser download integration.</a:t>
            </a:r>
          </a:p>
        </p:txBody>
      </p:sp>
      <p:pic>
        <p:nvPicPr>
          <p:cNvPr id="6" name="Picture 5" descr="fig5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3: Real-Time WebSockets &amp; Push Alerts Feed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ConnectionManager (security/websocket_manager.py): </a:t>
            </a:r>
            <a:r>
              <a:rPr b="0">
                <a:solidFill>
                  <a:srgbClr val="1E293B"/>
                </a:solidFill>
              </a:rPr>
              <a:t>Manages active user WebSocket sessions with JWT authentication token validation.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Live Event Broadcasting: </a:t>
            </a:r>
            <a:r>
              <a:rPr b="0">
                <a:solidFill>
                  <a:srgbClr val="1E293B"/>
                </a:solidFill>
              </a:rPr>
              <a:t>Broadcasts real-time notifications when decisions are approved/rejected, join requests submitted, or team roles assigned.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Persistent Client Listener (Header.jsx): </a:t>
            </a:r>
            <a:r>
              <a:rPr b="0">
                <a:solidFill>
                  <a:srgbClr val="1E293B"/>
                </a:solidFill>
              </a:rPr>
              <a:t>Maintains persistent WebSocket connection with automatic ping/pong keep-alive and reconnection logic.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Instant Push Alerts: </a:t>
            </a:r>
            <a:r>
              <a:rPr b="0">
                <a:solidFill>
                  <a:srgbClr val="1E293B"/>
                </a:solidFill>
              </a:rPr>
              <a:t>Displays animated pop-up toast alerts and increments unread notification badge counts without page refreshes.</a:t>
            </a:r>
          </a:p>
        </p:txBody>
      </p:sp>
      <p:pic>
        <p:nvPicPr>
          <p:cNvPr id="6" name="Picture 5" descr="fig6_webso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4: Docker Containerization &amp; System Mechanics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Container Startup &amp; Health Probe: </a:t>
            </a:r>
            <a:r>
              <a:rPr b="0">
                <a:solidFill>
                  <a:srgbClr val="1E293B"/>
                </a:solidFill>
              </a:rPr>
              <a:t>PostgreSQL container (edrp_db) initializes first; probes pg_isready -U edrp_user -d edrp_db every 5 seconds.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Backend Dependency Guard: </a:t>
            </a:r>
            <a:r>
              <a:rPr b="0">
                <a:solidFill>
                  <a:srgbClr val="1E293B"/>
                </a:solidFill>
              </a:rPr>
              <a:t>edrp_backend specifies depends_on: postgres: condition: service_healthy. FastAPI starts ONLY after database is 100% ready.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Frontend Nginx Production Stage: </a:t>
            </a:r>
            <a:r>
              <a:rPr b="0">
                <a:solidFill>
                  <a:srgbClr val="1E293B"/>
                </a:solidFill>
              </a:rPr>
              <a:t>edrp_frontend uses multi-stage build (Node 20 build -&gt; Nginx Alpine) serving compiled React SPA on port 5173.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Network &amp; Volume Persistence: </a:t>
            </a:r>
            <a:r>
              <a:rPr b="0">
                <a:solidFill>
                  <a:srgbClr val="1E293B"/>
                </a:solidFill>
              </a:rPr>
              <a:t>Containers communicate across internal Docker bridge (postgres:5432). Volume postgres_data preserves database state across restarts.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Single-Command Execution: </a:t>
            </a:r>
            <a:r>
              <a:rPr b="0">
                <a:solidFill>
                  <a:srgbClr val="1E293B"/>
                </a:solidFill>
              </a:rPr>
              <a:t>Running 'docker compose up --build -d' compiles assets, creates networks, and launches all 3 containers in background mode.</a:t>
            </a:r>
          </a:p>
        </p:txBody>
      </p:sp>
      <p:pic>
        <p:nvPicPr>
          <p:cNvPr id="6" name="Picture 5" descr="fig7_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5: AI Insights &amp; Recommendation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GET /decisions/{id}/ai-summary Endpoint: </a:t>
            </a:r>
            <a:r>
              <a:rPr b="0">
                <a:solidFill>
                  <a:srgbClr val="1E293B"/>
                </a:solidFill>
              </a:rPr>
              <a:t>Analyzes decision rationale, problem statement, and alternatives matrix to return AI-driven insights.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Executive Technical Summaries: </a:t>
            </a:r>
            <a:r>
              <a:rPr b="0">
                <a:solidFill>
                  <a:srgbClr val="1E293B"/>
                </a:solidFill>
              </a:rPr>
              <a:t>Generates concise executive summaries highlighting core architectural trade-offs.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Automated Risk Assessment: </a:t>
            </a:r>
            <a:r>
              <a:rPr b="0">
                <a:solidFill>
                  <a:srgbClr val="1E293B"/>
                </a:solidFill>
              </a:rPr>
              <a:t>Calculates risk scores and risk level badges (Low, Medium, High).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Alternative Option Ranking: </a:t>
            </a:r>
            <a:r>
              <a:rPr b="0">
                <a:solidFill>
                  <a:srgbClr val="1E293B"/>
                </a:solidFill>
              </a:rPr>
              <a:t>Recommends the optimal architectural choice based on trade-off metrics.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Interactive UI Component (DecisionDetail.jsx): </a:t>
            </a:r>
            <a:r>
              <a:rPr b="0">
                <a:solidFill>
                  <a:srgbClr val="1E293B"/>
                </a:solidFill>
              </a:rPr>
              <a:t>1-click 'Generate AI Insights' widget displaying recommendation cards.</a:t>
            </a:r>
          </a:p>
        </p:txBody>
      </p:sp>
      <p:pic>
        <p:nvPicPr>
          <p:cNvPr id="6" name="Picture 5" descr="fig8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Platform Enhancements: Separate Team Graphs &amp; Document Viewer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Dedicated Separate Team Knowledge Graphs: </a:t>
            </a:r>
            <a:r>
              <a:rPr b="0">
                <a:solidFill>
                  <a:srgbClr val="1E293B"/>
                </a:solidFill>
              </a:rPr>
              <a:t>Added team selection pills allowing users to view separate, team-centric Knowledge Graphs for every team in the organization.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Central Team Hub Nodes: </a:t>
            </a:r>
            <a:r>
              <a:rPr b="0">
                <a:solidFill>
                  <a:srgbClr val="1E293B"/>
                </a:solidFill>
              </a:rPr>
              <a:t>Renders Team Hub Nodes connecting team decisions and attached supported document nodes.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In-App Document Viewer Modal (DocumentViewerModal.jsx): </a:t>
            </a:r>
            <a:r>
              <a:rPr b="0">
                <a:solidFill>
                  <a:srgbClr val="1E293B"/>
                </a:solidFill>
              </a:rPr>
              <a:t>Opens attached blueprints, PDFs, and diagrams in a clean modal overlay with Zoom (+/-), 90° Rotation, and 1-Click Retrieval Download.</a:t>
            </a:r>
          </a:p>
        </p:txBody>
      </p:sp>
      <p:pic>
        <p:nvPicPr>
          <p:cNvPr id="6" name="Picture 5" descr="fig9_team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MILESTONE 4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Quality Assurance &amp; Project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Automated Pytest Suite Health: </a:t>
            </a:r>
            <a:r>
              <a:rPr b="0">
                <a:solidFill>
                  <a:srgbClr val="1E293B"/>
                </a:solidFill>
              </a:rPr>
              <a:t>Executed complete Backend unit &amp; integration test suite (pytest tests/). Outcome: 46 passed out of 46 tests (100% pass rate).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Production Frontend Asset Build: </a:t>
            </a:r>
            <a:r>
              <a:rPr b="0">
                <a:solidFill>
                  <a:srgbClr val="1E293B"/>
                </a:solidFill>
              </a:rPr>
              <a:t>Compiled production frontend assets using Vite (npx vite build). Outcome: Built in 1.79s with 0 errors.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PostgreSQL Database Migration: </a:t>
            </a:r>
            <a:r>
              <a:rPr b="0">
                <a:solidFill>
                  <a:srgbClr val="1E293B"/>
                </a:solidFill>
              </a:rPr>
              <a:t>Applied team_id column migration to PostgreSQL decisions table and verified relational integrity.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• Docker Multi-Container Orchestration: </a:t>
            </a:r>
            <a:r>
              <a:rPr b="0">
                <a:solidFill>
                  <a:srgbClr val="1E293B"/>
                </a:solidFill>
              </a:rPr>
              <a:t>All 3 containers (PostgreSQL 15, FastAPI, Nginx) verified ready for one-command deployment (docker compose up --build -d).</a:t>
            </a:r>
          </a:p>
        </p:txBody>
      </p:sp>
      <p:pic>
        <p:nvPicPr>
          <p:cNvPr id="6" name="Picture 5" descr="fig10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